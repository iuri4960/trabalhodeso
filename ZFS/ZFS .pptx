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mo" charset="1" panose="020B0604020202020204"/>
      <p:regular r:id="rId18"/>
    </p:embeddedFont>
    <p:embeddedFont>
      <p:font typeface="Arimo Bold" charset="1" panose="020B0704020202020204"/>
      <p:regular r:id="rId19"/>
    </p:embeddedFont>
    <p:embeddedFont>
      <p:font typeface="Consolas" charset="1" panose="020B0609020204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117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3394031"/>
            <a:ext cx="11417807" cy="125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1"/>
              </a:lnSpc>
            </a:pPr>
            <a:r>
              <a:rPr lang="en-US" sz="7773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Sistema de Arquivos ZFS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5165769"/>
            <a:ext cx="16315868" cy="132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Disciplina de Sistemas Operacionais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Iuri Fernandes Bastos · Matheus Parente Reis · Vinicius Alexandre Gomes · Yuri Fontenele Mamede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117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028700"/>
            <a:ext cx="1287419" cy="377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99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ORIGEM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470153"/>
            <a:ext cx="5231768" cy="899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O que é o ZFS?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810985"/>
            <a:ext cx="16315868" cy="287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1015" indent="-260508" lvl="1">
              <a:lnSpc>
                <a:spcPts val="4591"/>
              </a:lnSpc>
              <a:buFont typeface="Arial"/>
              <a:buChar char="•"/>
            </a:pPr>
            <a:r>
              <a:rPr lang="en-US" sz="28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Une sistema de arquivos e gerenciador de volumes em uma única camada</a:t>
            </a:r>
          </a:p>
          <a:p>
            <a:pPr algn="l" marL="521015" indent="-260508" lvl="1">
              <a:lnSpc>
                <a:spcPts val="4591"/>
              </a:lnSpc>
              <a:buFont typeface="Arial"/>
              <a:buChar char="•"/>
            </a:pPr>
            <a:r>
              <a:rPr lang="en-US" sz="28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Alta confiabilidade e integridade de dados</a:t>
            </a:r>
          </a:p>
          <a:p>
            <a:pPr algn="l" marL="521015" indent="-260508" lvl="1">
              <a:lnSpc>
                <a:spcPts val="4591"/>
              </a:lnSpc>
              <a:buFont typeface="Arial"/>
              <a:buChar char="•"/>
            </a:pPr>
            <a:r>
              <a:rPr lang="en-US" sz="28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Proteção contra corrupção silenciosa</a:t>
            </a:r>
          </a:p>
          <a:p>
            <a:pPr algn="l" marL="521015" indent="-260508" lvl="1">
              <a:lnSpc>
                <a:spcPts val="4591"/>
              </a:lnSpc>
              <a:buFont typeface="Arial"/>
              <a:buChar char="•"/>
            </a:pPr>
            <a:r>
              <a:rPr lang="en-US" sz="28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Snapshots, clones e replicação eficientes</a:t>
            </a:r>
          </a:p>
          <a:p>
            <a:pPr algn="l" marL="521015" indent="-260508" lvl="1">
              <a:lnSpc>
                <a:spcPts val="4591"/>
              </a:lnSpc>
              <a:buFont typeface="Arial"/>
              <a:buChar char="•"/>
            </a:pPr>
            <a:r>
              <a:rPr lang="en-US" sz="28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Escalável para grandes volumes e ambientes corporativos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181340"/>
            <a:ext cx="14064741" cy="108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9"/>
              </a:lnSpc>
              <a:spcBef>
                <a:spcPct val="0"/>
              </a:spcBef>
            </a:pPr>
            <a:r>
              <a:rPr lang="en-US" sz="287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Concebido pela Sun Microsystems em 2005 com a ideia de redefinir a forma como sistemas operacionais fazem o gerenciamento e o armazenamento de dados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117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320870"/>
            <a:ext cx="16315868" cy="7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Como o ZFS Funciona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624633" y="2431371"/>
            <a:ext cx="13052574" cy="5973566"/>
            <a:chOff x="0" y="0"/>
            <a:chExt cx="17403432" cy="796475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7403445" cy="7964805"/>
            </a:xfrm>
            <a:custGeom>
              <a:avLst/>
              <a:gdLst/>
              <a:ahLst/>
              <a:cxnLst/>
              <a:rect r="r" b="b" t="t" l="l"/>
              <a:pathLst>
                <a:path h="7964805" w="17403445">
                  <a:moveTo>
                    <a:pt x="0" y="0"/>
                  </a:moveTo>
                  <a:lnTo>
                    <a:pt x="17403445" y="0"/>
                  </a:lnTo>
                  <a:lnTo>
                    <a:pt x="17403445" y="7964805"/>
                  </a:lnTo>
                  <a:lnTo>
                    <a:pt x="0" y="7964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185685" y="3188779"/>
            <a:ext cx="2887351" cy="389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Zpool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85685" y="3671421"/>
            <a:ext cx="3182503" cy="529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1"/>
              </a:lnSpc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Pool unificado gerenciado pelo sistema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71829" y="5152234"/>
            <a:ext cx="2887351" cy="389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10"/>
              </a:lnSpc>
            </a:pPr>
            <a:r>
              <a:rPr lang="en-US" sz="22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Vdevs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33329" y="5634876"/>
            <a:ext cx="2925851" cy="529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31"/>
              </a:lnSpc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Dispositivos virtuais com RAID-Z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85685" y="6295968"/>
            <a:ext cx="2887351" cy="389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Discos Físicos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85685" y="6778609"/>
            <a:ext cx="3182503" cy="269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1"/>
              </a:lnSpc>
            </a:pPr>
            <a:r>
              <a:rPr lang="en-US" sz="180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HDDs ou SSDs individuais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991" y="8551993"/>
            <a:ext cx="17230954" cy="38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Datasets e Zvols: camada final de consumo dos dados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117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582426"/>
            <a:ext cx="16315868" cy="84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953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Principais Recursos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811532"/>
            <a:ext cx="17230954" cy="464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Quatro pilares tornam o ZFS um dos sistemas de arquivos mais robustos disponíveis.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8219" y="3529689"/>
            <a:ext cx="8052483" cy="2459822"/>
            <a:chOff x="0" y="0"/>
            <a:chExt cx="10736644" cy="32797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36580" cy="3279775"/>
            </a:xfrm>
            <a:custGeom>
              <a:avLst/>
              <a:gdLst/>
              <a:ahLst/>
              <a:cxnLst/>
              <a:rect r="r" b="b" t="t" l="l"/>
              <a:pathLst>
                <a:path h="3279775" w="10736580">
                  <a:moveTo>
                    <a:pt x="0" y="143510"/>
                  </a:moveTo>
                  <a:cubicBezTo>
                    <a:pt x="0" y="64262"/>
                    <a:pt x="64262" y="0"/>
                    <a:pt x="143510" y="0"/>
                  </a:cubicBezTo>
                  <a:lnTo>
                    <a:pt x="10593070" y="0"/>
                  </a:lnTo>
                  <a:cubicBezTo>
                    <a:pt x="10672318" y="0"/>
                    <a:pt x="10736580" y="64262"/>
                    <a:pt x="10736580" y="143510"/>
                  </a:cubicBezTo>
                  <a:lnTo>
                    <a:pt x="10736580" y="3136265"/>
                  </a:lnTo>
                  <a:cubicBezTo>
                    <a:pt x="10736580" y="3215513"/>
                    <a:pt x="10672318" y="3279775"/>
                    <a:pt x="10593070" y="3279775"/>
                  </a:cubicBezTo>
                  <a:lnTo>
                    <a:pt x="143510" y="3279775"/>
                  </a:lnTo>
                  <a:cubicBezTo>
                    <a:pt x="64262" y="3279775"/>
                    <a:pt x="0" y="3215513"/>
                    <a:pt x="0" y="3136265"/>
                  </a:cubicBezTo>
                  <a:close/>
                </a:path>
              </a:pathLst>
            </a:custGeom>
            <a:solidFill>
              <a:srgbClr val="E9E6FA"/>
            </a:solidFill>
            <a:ln w="9532" cap="sq">
              <a:solidFill>
                <a:srgbClr val="BDB8D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805" y="3799275"/>
            <a:ext cx="766000" cy="766020"/>
            <a:chOff x="0" y="0"/>
            <a:chExt cx="1021334" cy="10213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1334" cy="1021334"/>
            </a:xfrm>
            <a:custGeom>
              <a:avLst/>
              <a:gdLst/>
              <a:ahLst/>
              <a:cxnLst/>
              <a:rect r="r" b="b" t="t" l="l"/>
              <a:pathLst>
                <a:path h="1021334" w="1021334">
                  <a:moveTo>
                    <a:pt x="0" y="510667"/>
                  </a:moveTo>
                  <a:cubicBezTo>
                    <a:pt x="0" y="228600"/>
                    <a:pt x="228600" y="0"/>
                    <a:pt x="510667" y="0"/>
                  </a:cubicBezTo>
                  <a:cubicBezTo>
                    <a:pt x="792734" y="0"/>
                    <a:pt x="1021334" y="228600"/>
                    <a:pt x="1021334" y="510667"/>
                  </a:cubicBezTo>
                  <a:cubicBezTo>
                    <a:pt x="1021334" y="792734"/>
                    <a:pt x="792734" y="1021334"/>
                    <a:pt x="510667" y="1021334"/>
                  </a:cubicBezTo>
                  <a:cubicBezTo>
                    <a:pt x="228600" y="1021334"/>
                    <a:pt x="0" y="792734"/>
                    <a:pt x="0" y="510667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468403" y="4009882"/>
            <a:ext cx="344653" cy="344653"/>
          </a:xfrm>
          <a:custGeom>
            <a:avLst/>
            <a:gdLst/>
            <a:ahLst/>
            <a:cxnLst/>
            <a:rect r="r" b="b" t="t" l="l"/>
            <a:pathLst>
              <a:path h="344653" w="344653">
                <a:moveTo>
                  <a:pt x="0" y="0"/>
                </a:moveTo>
                <a:lnTo>
                  <a:pt x="344652" y="0"/>
                </a:lnTo>
                <a:lnTo>
                  <a:pt x="344652" y="344653"/>
                </a:lnTo>
                <a:lnTo>
                  <a:pt x="0" y="3446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457" r="0" b="-945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57805" y="4776064"/>
            <a:ext cx="7513320" cy="41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Copy-on-Write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7805" y="5255571"/>
            <a:ext cx="7513320" cy="464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Escreve novos dados em blocos diferentes.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60986" y="3529689"/>
            <a:ext cx="8052635" cy="2459822"/>
            <a:chOff x="0" y="0"/>
            <a:chExt cx="10736847" cy="32797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36834" cy="3279775"/>
            </a:xfrm>
            <a:custGeom>
              <a:avLst/>
              <a:gdLst/>
              <a:ahLst/>
              <a:cxnLst/>
              <a:rect r="r" b="b" t="t" l="l"/>
              <a:pathLst>
                <a:path h="3279775" w="10736834">
                  <a:moveTo>
                    <a:pt x="0" y="143510"/>
                  </a:moveTo>
                  <a:cubicBezTo>
                    <a:pt x="0" y="64262"/>
                    <a:pt x="64262" y="0"/>
                    <a:pt x="143510" y="0"/>
                  </a:cubicBezTo>
                  <a:lnTo>
                    <a:pt x="10593324" y="0"/>
                  </a:lnTo>
                  <a:cubicBezTo>
                    <a:pt x="10672572" y="0"/>
                    <a:pt x="10736834" y="64262"/>
                    <a:pt x="10736834" y="143510"/>
                  </a:cubicBezTo>
                  <a:lnTo>
                    <a:pt x="10736834" y="3136265"/>
                  </a:lnTo>
                  <a:cubicBezTo>
                    <a:pt x="10736834" y="3215513"/>
                    <a:pt x="10672572" y="3279775"/>
                    <a:pt x="10593324" y="3279775"/>
                  </a:cubicBezTo>
                  <a:lnTo>
                    <a:pt x="143510" y="3279775"/>
                  </a:lnTo>
                  <a:cubicBezTo>
                    <a:pt x="64262" y="3279775"/>
                    <a:pt x="0" y="3215513"/>
                    <a:pt x="0" y="3136265"/>
                  </a:cubicBezTo>
                  <a:close/>
                </a:path>
              </a:pathLst>
            </a:custGeom>
            <a:solidFill>
              <a:srgbClr val="E9E6FA"/>
            </a:solidFill>
            <a:ln w="9532" cap="sq">
              <a:solidFill>
                <a:srgbClr val="BDB8D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530572" y="3799275"/>
            <a:ext cx="766000" cy="766020"/>
            <a:chOff x="0" y="0"/>
            <a:chExt cx="1021334" cy="10213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1334" cy="1021334"/>
            </a:xfrm>
            <a:custGeom>
              <a:avLst/>
              <a:gdLst/>
              <a:ahLst/>
              <a:cxnLst/>
              <a:rect r="r" b="b" t="t" l="l"/>
              <a:pathLst>
                <a:path h="1021334" w="1021334">
                  <a:moveTo>
                    <a:pt x="0" y="510667"/>
                  </a:moveTo>
                  <a:cubicBezTo>
                    <a:pt x="0" y="228600"/>
                    <a:pt x="228600" y="0"/>
                    <a:pt x="510667" y="0"/>
                  </a:cubicBezTo>
                  <a:cubicBezTo>
                    <a:pt x="792734" y="0"/>
                    <a:pt x="1021334" y="228600"/>
                    <a:pt x="1021334" y="510667"/>
                  </a:cubicBezTo>
                  <a:cubicBezTo>
                    <a:pt x="1021334" y="792734"/>
                    <a:pt x="792734" y="1021334"/>
                    <a:pt x="510667" y="1021334"/>
                  </a:cubicBezTo>
                  <a:cubicBezTo>
                    <a:pt x="228600" y="1021334"/>
                    <a:pt x="0" y="792734"/>
                    <a:pt x="0" y="510667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9741170" y="4009882"/>
            <a:ext cx="344653" cy="344653"/>
          </a:xfrm>
          <a:custGeom>
            <a:avLst/>
            <a:gdLst/>
            <a:ahLst/>
            <a:cxnLst/>
            <a:rect r="r" b="b" t="t" l="l"/>
            <a:pathLst>
              <a:path h="344653" w="344653">
                <a:moveTo>
                  <a:pt x="0" y="0"/>
                </a:moveTo>
                <a:lnTo>
                  <a:pt x="344652" y="0"/>
                </a:lnTo>
                <a:lnTo>
                  <a:pt x="344652" y="344653"/>
                </a:lnTo>
                <a:lnTo>
                  <a:pt x="0" y="3446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700" r="0" b="-2702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530572" y="4776064"/>
            <a:ext cx="7513463" cy="41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Checksums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30572" y="5255571"/>
            <a:ext cx="7513463" cy="464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Verifica blocos e detecta corrupção.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8219" y="6209795"/>
            <a:ext cx="8052483" cy="2459822"/>
            <a:chOff x="0" y="0"/>
            <a:chExt cx="10736644" cy="32797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36580" cy="3279775"/>
            </a:xfrm>
            <a:custGeom>
              <a:avLst/>
              <a:gdLst/>
              <a:ahLst/>
              <a:cxnLst/>
              <a:rect r="r" b="b" t="t" l="l"/>
              <a:pathLst>
                <a:path h="3279775" w="10736580">
                  <a:moveTo>
                    <a:pt x="0" y="143510"/>
                  </a:moveTo>
                  <a:cubicBezTo>
                    <a:pt x="0" y="64262"/>
                    <a:pt x="64262" y="0"/>
                    <a:pt x="143510" y="0"/>
                  </a:cubicBezTo>
                  <a:lnTo>
                    <a:pt x="10593070" y="0"/>
                  </a:lnTo>
                  <a:cubicBezTo>
                    <a:pt x="10672318" y="0"/>
                    <a:pt x="10736580" y="64262"/>
                    <a:pt x="10736580" y="143510"/>
                  </a:cubicBezTo>
                  <a:lnTo>
                    <a:pt x="10736580" y="3136265"/>
                  </a:lnTo>
                  <a:cubicBezTo>
                    <a:pt x="10736580" y="3215513"/>
                    <a:pt x="10672318" y="3279775"/>
                    <a:pt x="10593070" y="3279775"/>
                  </a:cubicBezTo>
                  <a:lnTo>
                    <a:pt x="143510" y="3279775"/>
                  </a:lnTo>
                  <a:cubicBezTo>
                    <a:pt x="64262" y="3279775"/>
                    <a:pt x="0" y="3215513"/>
                    <a:pt x="0" y="3136265"/>
                  </a:cubicBezTo>
                  <a:close/>
                </a:path>
              </a:pathLst>
            </a:custGeom>
            <a:solidFill>
              <a:srgbClr val="E9E6FA"/>
            </a:solidFill>
            <a:ln w="9532" cap="sq">
              <a:solidFill>
                <a:srgbClr val="BDB8D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57805" y="6479381"/>
            <a:ext cx="766000" cy="766020"/>
            <a:chOff x="0" y="0"/>
            <a:chExt cx="1021334" cy="10213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1334" cy="1021334"/>
            </a:xfrm>
            <a:custGeom>
              <a:avLst/>
              <a:gdLst/>
              <a:ahLst/>
              <a:cxnLst/>
              <a:rect r="r" b="b" t="t" l="l"/>
              <a:pathLst>
                <a:path h="1021334" w="1021334">
                  <a:moveTo>
                    <a:pt x="0" y="510667"/>
                  </a:moveTo>
                  <a:cubicBezTo>
                    <a:pt x="0" y="228600"/>
                    <a:pt x="228600" y="0"/>
                    <a:pt x="510667" y="0"/>
                  </a:cubicBezTo>
                  <a:cubicBezTo>
                    <a:pt x="792734" y="0"/>
                    <a:pt x="1021334" y="228600"/>
                    <a:pt x="1021334" y="510667"/>
                  </a:cubicBezTo>
                  <a:cubicBezTo>
                    <a:pt x="1021334" y="792734"/>
                    <a:pt x="792734" y="1021334"/>
                    <a:pt x="510667" y="1021334"/>
                  </a:cubicBezTo>
                  <a:cubicBezTo>
                    <a:pt x="228600" y="1021334"/>
                    <a:pt x="0" y="792734"/>
                    <a:pt x="0" y="510667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468403" y="6689989"/>
            <a:ext cx="344653" cy="344653"/>
          </a:xfrm>
          <a:custGeom>
            <a:avLst/>
            <a:gdLst/>
            <a:ahLst/>
            <a:cxnLst/>
            <a:rect r="r" b="b" t="t" l="l"/>
            <a:pathLst>
              <a:path h="344653" w="344653">
                <a:moveTo>
                  <a:pt x="0" y="0"/>
                </a:moveTo>
                <a:lnTo>
                  <a:pt x="344652" y="0"/>
                </a:lnTo>
                <a:lnTo>
                  <a:pt x="344652" y="344652"/>
                </a:lnTo>
                <a:lnTo>
                  <a:pt x="0" y="3446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0811" t="0" r="-10811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57805" y="7456180"/>
            <a:ext cx="7513320" cy="41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Snapshots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7805" y="7935678"/>
            <a:ext cx="7513320" cy="464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Capturas rápidas do estado do sistema.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60986" y="6209795"/>
            <a:ext cx="8052635" cy="2459822"/>
            <a:chOff x="0" y="0"/>
            <a:chExt cx="10736847" cy="32797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36834" cy="3279775"/>
            </a:xfrm>
            <a:custGeom>
              <a:avLst/>
              <a:gdLst/>
              <a:ahLst/>
              <a:cxnLst/>
              <a:rect r="r" b="b" t="t" l="l"/>
              <a:pathLst>
                <a:path h="3279775" w="10736834">
                  <a:moveTo>
                    <a:pt x="0" y="143510"/>
                  </a:moveTo>
                  <a:cubicBezTo>
                    <a:pt x="0" y="64262"/>
                    <a:pt x="64262" y="0"/>
                    <a:pt x="143510" y="0"/>
                  </a:cubicBezTo>
                  <a:lnTo>
                    <a:pt x="10593324" y="0"/>
                  </a:lnTo>
                  <a:cubicBezTo>
                    <a:pt x="10672572" y="0"/>
                    <a:pt x="10736834" y="64262"/>
                    <a:pt x="10736834" y="143510"/>
                  </a:cubicBezTo>
                  <a:lnTo>
                    <a:pt x="10736834" y="3136265"/>
                  </a:lnTo>
                  <a:cubicBezTo>
                    <a:pt x="10736834" y="3215513"/>
                    <a:pt x="10672572" y="3279775"/>
                    <a:pt x="10593324" y="3279775"/>
                  </a:cubicBezTo>
                  <a:lnTo>
                    <a:pt x="143510" y="3279775"/>
                  </a:lnTo>
                  <a:cubicBezTo>
                    <a:pt x="64262" y="3279775"/>
                    <a:pt x="0" y="3215513"/>
                    <a:pt x="0" y="3136265"/>
                  </a:cubicBezTo>
                  <a:close/>
                </a:path>
              </a:pathLst>
            </a:custGeom>
            <a:solidFill>
              <a:srgbClr val="E9E6FA"/>
            </a:solidFill>
            <a:ln w="9532" cap="sq">
              <a:solidFill>
                <a:srgbClr val="BDB8D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530572" y="6479381"/>
            <a:ext cx="766000" cy="766020"/>
            <a:chOff x="0" y="0"/>
            <a:chExt cx="1021334" cy="102135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1334" cy="1021334"/>
            </a:xfrm>
            <a:custGeom>
              <a:avLst/>
              <a:gdLst/>
              <a:ahLst/>
              <a:cxnLst/>
              <a:rect r="r" b="b" t="t" l="l"/>
              <a:pathLst>
                <a:path h="1021334" w="1021334">
                  <a:moveTo>
                    <a:pt x="0" y="510667"/>
                  </a:moveTo>
                  <a:cubicBezTo>
                    <a:pt x="0" y="228600"/>
                    <a:pt x="228600" y="0"/>
                    <a:pt x="510667" y="0"/>
                  </a:cubicBezTo>
                  <a:cubicBezTo>
                    <a:pt x="792734" y="0"/>
                    <a:pt x="1021334" y="228600"/>
                    <a:pt x="1021334" y="510667"/>
                  </a:cubicBezTo>
                  <a:cubicBezTo>
                    <a:pt x="1021334" y="792734"/>
                    <a:pt x="792734" y="1021334"/>
                    <a:pt x="510667" y="1021334"/>
                  </a:cubicBezTo>
                  <a:cubicBezTo>
                    <a:pt x="228600" y="1021334"/>
                    <a:pt x="0" y="792734"/>
                    <a:pt x="0" y="510667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9741170" y="6689989"/>
            <a:ext cx="344653" cy="344653"/>
          </a:xfrm>
          <a:custGeom>
            <a:avLst/>
            <a:gdLst/>
            <a:ahLst/>
            <a:cxnLst/>
            <a:rect r="r" b="b" t="t" l="l"/>
            <a:pathLst>
              <a:path h="344653" w="344653">
                <a:moveTo>
                  <a:pt x="0" y="0"/>
                </a:moveTo>
                <a:lnTo>
                  <a:pt x="344652" y="0"/>
                </a:lnTo>
                <a:lnTo>
                  <a:pt x="344652" y="344652"/>
                </a:lnTo>
                <a:lnTo>
                  <a:pt x="0" y="3446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808" r="0" b="-10811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530572" y="7456180"/>
            <a:ext cx="7513463" cy="41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RAID-Z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30572" y="7935678"/>
            <a:ext cx="7513463" cy="464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Proteção nativa contra falhas de discos.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117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2048512"/>
            <a:ext cx="12807929" cy="899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6"/>
              </a:lnSpc>
            </a:pPr>
            <a:r>
              <a:rPr lang="en-US" sz="5550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Copy-on-Write e Checksums em Detalhe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28700" y="4352601"/>
            <a:ext cx="8067075" cy="3125753"/>
          </a:xfrm>
          <a:custGeom>
            <a:avLst/>
            <a:gdLst/>
            <a:ahLst/>
            <a:cxnLst/>
            <a:rect r="r" b="b" t="t" l="l"/>
            <a:pathLst>
              <a:path h="3125753" w="8067075">
                <a:moveTo>
                  <a:pt x="0" y="0"/>
                </a:moveTo>
                <a:lnTo>
                  <a:pt x="8067075" y="0"/>
                </a:lnTo>
                <a:lnTo>
                  <a:pt x="8067075" y="3125753"/>
                </a:lnTo>
                <a:lnTo>
                  <a:pt x="0" y="31257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4" r="0" b="-6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689588"/>
            <a:ext cx="3372005" cy="43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Copy-on-Write (COW)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1472" y="4616897"/>
            <a:ext cx="7441530" cy="252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568" indent="-208284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Escreve alterações em um novo bloco, sem sobrescrever o original.</a:t>
            </a:r>
          </a:p>
          <a:p>
            <a:pPr algn="l" marL="416568" indent="-208284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Atualiza os metadados de forma atômica para apontar para o novo bloco.</a:t>
            </a:r>
          </a:p>
          <a:p>
            <a:pPr algn="l" marL="416568" indent="-208284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Evita corrupção e mantém o estado do disco consistente.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192073" y="4352601"/>
            <a:ext cx="8067227" cy="3125753"/>
          </a:xfrm>
          <a:custGeom>
            <a:avLst/>
            <a:gdLst/>
            <a:ahLst/>
            <a:cxnLst/>
            <a:rect r="r" b="b" t="t" l="l"/>
            <a:pathLst>
              <a:path h="3125753" w="8067227">
                <a:moveTo>
                  <a:pt x="0" y="0"/>
                </a:moveTo>
                <a:lnTo>
                  <a:pt x="8067227" y="0"/>
                </a:lnTo>
                <a:lnTo>
                  <a:pt x="8067227" y="3125753"/>
                </a:lnTo>
                <a:lnTo>
                  <a:pt x="0" y="31257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5" r="0" b="-6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92073" y="3689588"/>
            <a:ext cx="4154841" cy="43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Checksums e Auto-Healing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04850" y="4407325"/>
            <a:ext cx="7441673" cy="29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568" indent="-208284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Usa um hash de 256 bits para validar cada bloco.</a:t>
            </a:r>
          </a:p>
          <a:p>
            <a:pPr algn="l" marL="416568" indent="-208284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O checksum fica armazenado no bloco pai, separado dos dados.</a:t>
            </a:r>
          </a:p>
          <a:p>
            <a:pPr algn="l" marL="416568" indent="-208284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Com redundância, o ZFS corrige automaticamente blocos corrompidos.</a:t>
            </a:r>
          </a:p>
          <a:p>
            <a:pPr algn="l" marL="416568" indent="-208284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O scrub verifica a estrutura inteira e encontra erros antes que causem impacto.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117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591961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Vantagens e Desvantagens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88641" y="2961313"/>
            <a:ext cx="8220485" cy="3776634"/>
            <a:chOff x="0" y="0"/>
            <a:chExt cx="10960646" cy="50355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60608" cy="5035550"/>
            </a:xfrm>
            <a:custGeom>
              <a:avLst/>
              <a:gdLst/>
              <a:ahLst/>
              <a:cxnLst/>
              <a:rect r="r" b="b" t="t" l="l"/>
              <a:pathLst>
                <a:path h="5035550" w="10960608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10688193" y="0"/>
                  </a:lnTo>
                  <a:cubicBezTo>
                    <a:pt x="10838688" y="0"/>
                    <a:pt x="10960608" y="121920"/>
                    <a:pt x="10960608" y="272415"/>
                  </a:cubicBezTo>
                  <a:lnTo>
                    <a:pt x="10960608" y="4763135"/>
                  </a:lnTo>
                  <a:cubicBezTo>
                    <a:pt x="10960608" y="4913630"/>
                    <a:pt x="10838688" y="5035550"/>
                    <a:pt x="10688193" y="5035550"/>
                  </a:cubicBezTo>
                  <a:lnTo>
                    <a:pt x="272415" y="5035550"/>
                  </a:lnTo>
                  <a:cubicBezTo>
                    <a:pt x="121920" y="5035550"/>
                    <a:pt x="0" y="4913503"/>
                    <a:pt x="0" y="4763135"/>
                  </a:cubicBezTo>
                  <a:close/>
                </a:path>
              </a:pathLst>
            </a:custGeom>
            <a:solidFill>
              <a:srgbClr val="231971">
                <a:alpha val="90196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72372" y="3216478"/>
            <a:ext cx="7653023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  <a:r>
              <a:rPr lang="en-US" sz="277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Vantagens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2372" y="3876799"/>
            <a:ext cx="7653023" cy="276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Alta integridade e confiabilidade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Snapshots instantâneos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RAID-Z nativo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Escala para petabytes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Compressão nativa eficiente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06588" y="3216478"/>
            <a:ext cx="7811795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⚠️</a:t>
            </a:r>
            <a:r>
              <a:rPr lang="en-US" sz="2777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 Desvantagens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06588" y="3876799"/>
            <a:ext cx="7811795" cy="220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Alto consumo de RAM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Curva de aprendizado alta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Deduplicação pesada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Suporte limitado em alguns SOs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88641" y="7166572"/>
            <a:ext cx="16315868" cy="1588789"/>
            <a:chOff x="0" y="0"/>
            <a:chExt cx="21754490" cy="211838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54464" cy="2118360"/>
            </a:xfrm>
            <a:custGeom>
              <a:avLst/>
              <a:gdLst/>
              <a:ahLst/>
              <a:cxnLst/>
              <a:rect r="r" b="b" t="t" l="l"/>
              <a:pathLst>
                <a:path h="2118360" w="21754464">
                  <a:moveTo>
                    <a:pt x="0" y="158877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21595587" y="0"/>
                  </a:lnTo>
                  <a:cubicBezTo>
                    <a:pt x="21683345" y="0"/>
                    <a:pt x="21754464" y="71120"/>
                    <a:pt x="21754464" y="158877"/>
                  </a:cubicBezTo>
                  <a:lnTo>
                    <a:pt x="21754464" y="1959483"/>
                  </a:lnTo>
                  <a:cubicBezTo>
                    <a:pt x="21754464" y="2047240"/>
                    <a:pt x="21683345" y="2118360"/>
                    <a:pt x="21595587" y="2118360"/>
                  </a:cubicBezTo>
                  <a:lnTo>
                    <a:pt x="158877" y="2118360"/>
                  </a:lnTo>
                  <a:cubicBezTo>
                    <a:pt x="71120" y="2118360"/>
                    <a:pt x="0" y="2047240"/>
                    <a:pt x="0" y="1959483"/>
                  </a:cubicBezTo>
                  <a:close/>
                </a:path>
              </a:pathLst>
            </a:custGeom>
            <a:solidFill>
              <a:srgbClr val="D7D2F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72372" y="7568422"/>
            <a:ext cx="354625" cy="283740"/>
            <a:chOff x="0" y="0"/>
            <a:chExt cx="472834" cy="37832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472821" cy="378333"/>
            </a:xfrm>
            <a:custGeom>
              <a:avLst/>
              <a:gdLst/>
              <a:ahLst/>
              <a:cxnLst/>
              <a:rect r="r" b="b" t="t" l="l"/>
              <a:pathLst>
                <a:path h="378333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378333"/>
                  </a:lnTo>
                  <a:lnTo>
                    <a:pt x="0" y="378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74" t="0" r="-676" b="3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710728" y="7425957"/>
            <a:ext cx="15110041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 ZFS é ideal para ambientes onde a </a:t>
            </a:r>
            <a:r>
              <a:rPr lang="en-US" sz="2176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integridade dos dados é prioritária</a:t>
            </a:r>
            <a:r>
              <a:rPr lang="en-US" sz="21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mesmo que isso exija mais recursos de hardware.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117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399232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Gerenciamento de Memória Avançado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991" y="2910526"/>
            <a:ext cx="5249418" cy="5927989"/>
          </a:xfrm>
          <a:custGeom>
            <a:avLst/>
            <a:gdLst/>
            <a:ahLst/>
            <a:cxnLst/>
            <a:rect r="r" b="b" t="t" l="l"/>
            <a:pathLst>
              <a:path h="5927989" w="5249418">
                <a:moveTo>
                  <a:pt x="0" y="0"/>
                </a:moveTo>
                <a:lnTo>
                  <a:pt x="5249418" y="0"/>
                </a:lnTo>
                <a:lnTo>
                  <a:pt x="5249418" y="5927988"/>
                </a:lnTo>
                <a:lnTo>
                  <a:pt x="0" y="59279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8" t="0" r="-28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14850" y="4055031"/>
            <a:ext cx="4605699" cy="91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ARC — Adaptive Replacement Cache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4850" y="5045126"/>
            <a:ext cx="4605699" cy="347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Cache principal do ZFS, inteiramente na RAM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Combina acesso recente e frequente para aumentar a taxa de acertos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Melhora a latência em leituras repetidas e metadados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6526139" y="2910526"/>
            <a:ext cx="5249418" cy="5927989"/>
          </a:xfrm>
          <a:custGeom>
            <a:avLst/>
            <a:gdLst/>
            <a:ahLst/>
            <a:cxnLst/>
            <a:rect r="r" b="b" t="t" l="l"/>
            <a:pathLst>
              <a:path h="5927989" w="5249418">
                <a:moveTo>
                  <a:pt x="0" y="0"/>
                </a:moveTo>
                <a:lnTo>
                  <a:pt x="5249418" y="0"/>
                </a:lnTo>
                <a:lnTo>
                  <a:pt x="5249418" y="5927988"/>
                </a:lnTo>
                <a:lnTo>
                  <a:pt x="0" y="59279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8" t="0" r="-28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847999" y="4055031"/>
            <a:ext cx="4605699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L2ARC — Second Level ARC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47999" y="4601861"/>
            <a:ext cx="4605699" cy="347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Extensão do ARC em SSDs ou NVMe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Armazena dados que saíram da RAM, mas ainda podem ser reutilizados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Reduz a pressão sobre o ARC, sem substituir a RAM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2059288" y="2910526"/>
            <a:ext cx="5249418" cy="5927989"/>
          </a:xfrm>
          <a:custGeom>
            <a:avLst/>
            <a:gdLst/>
            <a:ahLst/>
            <a:cxnLst/>
            <a:rect r="r" b="b" t="t" l="l"/>
            <a:pathLst>
              <a:path h="5927989" w="5249418">
                <a:moveTo>
                  <a:pt x="0" y="0"/>
                </a:moveTo>
                <a:lnTo>
                  <a:pt x="5249418" y="0"/>
                </a:lnTo>
                <a:lnTo>
                  <a:pt x="5249418" y="5927988"/>
                </a:lnTo>
                <a:lnTo>
                  <a:pt x="0" y="59279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8" t="0" r="-28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381147" y="4055031"/>
            <a:ext cx="4605699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ZIL e SLOG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81147" y="4601861"/>
            <a:ext cx="4605699" cy="347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b="true" sz="2176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ZIL</a:t>
            </a: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registra operações de escrita síncronas para garantir consistência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b="true" sz="2176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SLOG</a:t>
            </a: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é um dispositivo dedicado para essas escritas síncronas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Reduz o tempo de resposta de NFS, bancos de dados e VMs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117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577369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Níveis de Redundância (RAID-Z)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04372" y="3335050"/>
            <a:ext cx="17325759" cy="5923250"/>
            <a:chOff x="0" y="0"/>
            <a:chExt cx="21767190" cy="74416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67166" cy="7441565"/>
            </a:xfrm>
            <a:custGeom>
              <a:avLst/>
              <a:gdLst/>
              <a:ahLst/>
              <a:cxnLst/>
              <a:rect r="r" b="b" t="t" l="l"/>
              <a:pathLst>
                <a:path h="7441565" w="21767166">
                  <a:moveTo>
                    <a:pt x="0" y="159131"/>
                  </a:moveTo>
                  <a:cubicBezTo>
                    <a:pt x="0" y="71247"/>
                    <a:pt x="71247" y="0"/>
                    <a:pt x="159131" y="0"/>
                  </a:cubicBezTo>
                  <a:lnTo>
                    <a:pt x="21608035" y="0"/>
                  </a:lnTo>
                  <a:cubicBezTo>
                    <a:pt x="21695919" y="0"/>
                    <a:pt x="21767166" y="71247"/>
                    <a:pt x="21767166" y="159131"/>
                  </a:cubicBezTo>
                  <a:lnTo>
                    <a:pt x="21767166" y="7282434"/>
                  </a:lnTo>
                  <a:cubicBezTo>
                    <a:pt x="21767166" y="7370318"/>
                    <a:pt x="21695919" y="7441565"/>
                    <a:pt x="21608035" y="7441565"/>
                  </a:cubicBezTo>
                  <a:lnTo>
                    <a:pt x="159131" y="7441565"/>
                  </a:lnTo>
                  <a:cubicBezTo>
                    <a:pt x="71247" y="7441692"/>
                    <a:pt x="0" y="7370445"/>
                    <a:pt x="0" y="7282434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4" r="0" b="-6996"/>
              </a:stretch>
            </a:blipFill>
            <a:ln w="9532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92991" y="3916499"/>
            <a:ext cx="16315868" cy="17736"/>
            <a:chOff x="0" y="0"/>
            <a:chExt cx="21754490" cy="236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54464" cy="23622"/>
            </a:xfrm>
            <a:custGeom>
              <a:avLst/>
              <a:gdLst/>
              <a:ahLst/>
              <a:cxnLst/>
              <a:rect r="r" b="b" t="t" l="l"/>
              <a:pathLst>
                <a:path h="23622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23622"/>
                  </a:lnTo>
                  <a:lnTo>
                    <a:pt x="0" y="23622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92991" y="5193544"/>
            <a:ext cx="16315868" cy="17736"/>
            <a:chOff x="0" y="0"/>
            <a:chExt cx="21754490" cy="236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54464" cy="23622"/>
            </a:xfrm>
            <a:custGeom>
              <a:avLst/>
              <a:gdLst/>
              <a:ahLst/>
              <a:cxnLst/>
              <a:rect r="r" b="b" t="t" l="l"/>
              <a:pathLst>
                <a:path h="23622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23622"/>
                  </a:lnTo>
                  <a:lnTo>
                    <a:pt x="0" y="23622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92991" y="7378560"/>
            <a:ext cx="16315868" cy="17736"/>
            <a:chOff x="0" y="0"/>
            <a:chExt cx="21754490" cy="236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54464" cy="23622"/>
            </a:xfrm>
            <a:custGeom>
              <a:avLst/>
              <a:gdLst/>
              <a:ahLst/>
              <a:cxnLst/>
              <a:rect r="r" b="b" t="t" l="l"/>
              <a:pathLst>
                <a:path h="23622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23622"/>
                  </a:lnTo>
                  <a:lnTo>
                    <a:pt x="0" y="23622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936054" y="3088662"/>
            <a:ext cx="17736" cy="5571715"/>
            <a:chOff x="0" y="0"/>
            <a:chExt cx="23647" cy="74289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622" cy="7428992"/>
            </a:xfrm>
            <a:custGeom>
              <a:avLst/>
              <a:gdLst/>
              <a:ahLst/>
              <a:cxnLst/>
              <a:rect r="r" b="b" t="t" l="l"/>
              <a:pathLst>
                <a:path h="7428992" w="23622">
                  <a:moveTo>
                    <a:pt x="0" y="0"/>
                  </a:moveTo>
                  <a:lnTo>
                    <a:pt x="23622" y="0"/>
                  </a:lnTo>
                  <a:lnTo>
                    <a:pt x="23622" y="7428992"/>
                  </a:lnTo>
                  <a:lnTo>
                    <a:pt x="0" y="7428992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476956" y="3088662"/>
            <a:ext cx="17736" cy="5571715"/>
            <a:chOff x="0" y="0"/>
            <a:chExt cx="23647" cy="742895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622" cy="7428992"/>
            </a:xfrm>
            <a:custGeom>
              <a:avLst/>
              <a:gdLst/>
              <a:ahLst/>
              <a:cxnLst/>
              <a:rect r="r" b="b" t="t" l="l"/>
              <a:pathLst>
                <a:path h="7428992" w="23622">
                  <a:moveTo>
                    <a:pt x="0" y="0"/>
                  </a:moveTo>
                  <a:lnTo>
                    <a:pt x="23622" y="0"/>
                  </a:lnTo>
                  <a:lnTo>
                    <a:pt x="23622" y="7428992"/>
                  </a:lnTo>
                  <a:lnTo>
                    <a:pt x="0" y="7428992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736220" y="3088662"/>
            <a:ext cx="17736" cy="5571715"/>
            <a:chOff x="0" y="0"/>
            <a:chExt cx="23647" cy="74289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622" cy="7428992"/>
            </a:xfrm>
            <a:custGeom>
              <a:avLst/>
              <a:gdLst/>
              <a:ahLst/>
              <a:cxnLst/>
              <a:rect r="r" b="b" t="t" l="l"/>
              <a:pathLst>
                <a:path h="7428992" w="23622">
                  <a:moveTo>
                    <a:pt x="0" y="0"/>
                  </a:moveTo>
                  <a:lnTo>
                    <a:pt x="23622" y="0"/>
                  </a:lnTo>
                  <a:lnTo>
                    <a:pt x="23622" y="7428992"/>
                  </a:lnTo>
                  <a:lnTo>
                    <a:pt x="0" y="7428992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20824" y="3436238"/>
            <a:ext cx="3477005" cy="58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31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Configuração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939022" y="3436238"/>
            <a:ext cx="6239237" cy="58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31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Descrição da paridade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19442" y="3436238"/>
            <a:ext cx="3817798" cy="58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31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Tolerância a falhas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78434" y="3436238"/>
            <a:ext cx="5206577" cy="58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31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Casos de uso comuns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0824" y="4309738"/>
            <a:ext cx="3477005" cy="58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31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RAID-Z1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939022" y="4309738"/>
            <a:ext cx="6239237" cy="58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31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1 bloco de paridade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19442" y="4309738"/>
            <a:ext cx="2846639" cy="106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31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Suporta a falha de 1 disco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278434" y="4309738"/>
            <a:ext cx="4235418" cy="106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31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Ambientes menores e cargas menos críticas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0824" y="5665046"/>
            <a:ext cx="3477005" cy="58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31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RAID-Z2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39022" y="5665046"/>
            <a:ext cx="6239237" cy="58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31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2 blocos de paridade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19442" y="5665046"/>
            <a:ext cx="2846639" cy="106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31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Suporta a falha de 2 discos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278434" y="5665046"/>
            <a:ext cx="4235418" cy="203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31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Uso geral em servidores e armazenamento com melhor equilíbrio entre capacidade e segurança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20824" y="7983953"/>
            <a:ext cx="3477005" cy="58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31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RAID-Z3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939022" y="7983953"/>
            <a:ext cx="6239237" cy="58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31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3 blocos de paridade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19442" y="7983953"/>
            <a:ext cx="2846639" cy="106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31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Suporta a falha de 3 discos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278434" y="7983953"/>
            <a:ext cx="4235418" cy="106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231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Arrays maiores e ambientes com alta criticidade de dados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117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705289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Otimizações de Espaço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991" y="3763528"/>
            <a:ext cx="8015992" cy="4221985"/>
          </a:xfrm>
          <a:custGeom>
            <a:avLst/>
            <a:gdLst/>
            <a:ahLst/>
            <a:cxnLst/>
            <a:rect r="r" b="b" t="t" l="l"/>
            <a:pathLst>
              <a:path h="4221985" w="8015992">
                <a:moveTo>
                  <a:pt x="0" y="0"/>
                </a:moveTo>
                <a:lnTo>
                  <a:pt x="8015992" y="0"/>
                </a:lnTo>
                <a:lnTo>
                  <a:pt x="8015992" y="4221984"/>
                </a:lnTo>
                <a:lnTo>
                  <a:pt x="0" y="4221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Freeform 8" id="8" descr="preencoded.png"/>
          <p:cNvSpPr/>
          <p:nvPr/>
        </p:nvSpPr>
        <p:spPr>
          <a:xfrm flipH="false" flipV="false" rot="0">
            <a:off x="4788151" y="4009587"/>
            <a:ext cx="425520" cy="425539"/>
          </a:xfrm>
          <a:custGeom>
            <a:avLst/>
            <a:gdLst/>
            <a:ahLst/>
            <a:cxnLst/>
            <a:rect r="r" b="b" t="t" l="l"/>
            <a:pathLst>
              <a:path h="425539" w="425520">
                <a:moveTo>
                  <a:pt x="0" y="0"/>
                </a:moveTo>
                <a:lnTo>
                  <a:pt x="425520" y="0"/>
                </a:lnTo>
                <a:lnTo>
                  <a:pt x="425520" y="425539"/>
                </a:lnTo>
                <a:lnTo>
                  <a:pt x="0" y="4255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" t="0" r="-3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14850" y="4908042"/>
            <a:ext cx="7372274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Compressão Nativa Transparente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4850" y="5454872"/>
            <a:ext cx="7372274" cy="220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Reduz o tamanho dos dados no disco.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Acelera leitura/escrita de dados de disco.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Algoritmos como LZ4 e ZSTD.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Transparente para o usuário.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292714" y="3763528"/>
            <a:ext cx="8016145" cy="4221985"/>
          </a:xfrm>
          <a:custGeom>
            <a:avLst/>
            <a:gdLst/>
            <a:ahLst/>
            <a:cxnLst/>
            <a:rect r="r" b="b" t="t" l="l"/>
            <a:pathLst>
              <a:path h="4221985" w="8016145">
                <a:moveTo>
                  <a:pt x="0" y="0"/>
                </a:moveTo>
                <a:lnTo>
                  <a:pt x="8016145" y="0"/>
                </a:lnTo>
                <a:lnTo>
                  <a:pt x="8016145" y="4221984"/>
                </a:lnTo>
                <a:lnTo>
                  <a:pt x="0" y="4221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" r="0" b="-59"/>
            </a:stretch>
          </a:blipFill>
        </p:spPr>
      </p:sp>
      <p:sp>
        <p:nvSpPr>
          <p:cNvPr name="Freeform 12" id="12" descr="preencoded.png"/>
          <p:cNvSpPr/>
          <p:nvPr/>
        </p:nvSpPr>
        <p:spPr>
          <a:xfrm flipH="false" flipV="false" rot="0">
            <a:off x="13088017" y="4009587"/>
            <a:ext cx="425520" cy="425539"/>
          </a:xfrm>
          <a:custGeom>
            <a:avLst/>
            <a:gdLst/>
            <a:ahLst/>
            <a:cxnLst/>
            <a:rect r="r" b="b" t="t" l="l"/>
            <a:pathLst>
              <a:path h="425539" w="425520">
                <a:moveTo>
                  <a:pt x="0" y="0"/>
                </a:moveTo>
                <a:lnTo>
                  <a:pt x="425520" y="0"/>
                </a:lnTo>
                <a:lnTo>
                  <a:pt x="425520" y="425539"/>
                </a:lnTo>
                <a:lnTo>
                  <a:pt x="0" y="4255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" t="0" r="-3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614573" y="4908042"/>
            <a:ext cx="7372417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Deduplicação (Block-level Dedup)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14573" y="5454872"/>
            <a:ext cx="7372417" cy="220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Remove blocos de dados idênticos.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Usa um "Deduplication Table" (DDT).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DDT reside em RAM.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Exige muita RAM para desempenho.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2135536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Snapshots, Clones e Replicação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3888122"/>
            <a:ext cx="5217175" cy="3844105"/>
            <a:chOff x="0" y="0"/>
            <a:chExt cx="13719552" cy="101088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19530" cy="10108764"/>
            </a:xfrm>
            <a:custGeom>
              <a:avLst/>
              <a:gdLst/>
              <a:ahLst/>
              <a:cxnLst/>
              <a:rect r="r" b="b" t="t" l="l"/>
              <a:pathLst>
                <a:path h="10108764" w="13719530">
                  <a:moveTo>
                    <a:pt x="4455157" y="0"/>
                  </a:moveTo>
                  <a:lnTo>
                    <a:pt x="9264372" y="0"/>
                  </a:lnTo>
                  <a:cubicBezTo>
                    <a:pt x="10445954" y="0"/>
                    <a:pt x="11579141" y="469381"/>
                    <a:pt x="12414645" y="1304885"/>
                  </a:cubicBezTo>
                  <a:cubicBezTo>
                    <a:pt x="13250149" y="2140389"/>
                    <a:pt x="13719530" y="3273576"/>
                    <a:pt x="13719530" y="4455157"/>
                  </a:cubicBezTo>
                  <a:lnTo>
                    <a:pt x="13719530" y="5653607"/>
                  </a:lnTo>
                  <a:cubicBezTo>
                    <a:pt x="13719530" y="6835188"/>
                    <a:pt x="13250149" y="7968375"/>
                    <a:pt x="12414645" y="8803879"/>
                  </a:cubicBezTo>
                  <a:cubicBezTo>
                    <a:pt x="11579141" y="9639383"/>
                    <a:pt x="10445954" y="10108764"/>
                    <a:pt x="9264372" y="10108764"/>
                  </a:cubicBezTo>
                  <a:lnTo>
                    <a:pt x="4455157" y="10108764"/>
                  </a:lnTo>
                  <a:cubicBezTo>
                    <a:pt x="3273576" y="10108764"/>
                    <a:pt x="2140389" y="9639383"/>
                    <a:pt x="1304885" y="8803879"/>
                  </a:cubicBezTo>
                  <a:cubicBezTo>
                    <a:pt x="469381" y="7968375"/>
                    <a:pt x="0" y="6835188"/>
                    <a:pt x="0" y="5653607"/>
                  </a:cubicBezTo>
                  <a:lnTo>
                    <a:pt x="0" y="4455157"/>
                  </a:lnTo>
                  <a:cubicBezTo>
                    <a:pt x="0" y="3273576"/>
                    <a:pt x="469381" y="2140389"/>
                    <a:pt x="1304885" y="1304885"/>
                  </a:cubicBezTo>
                  <a:cubicBezTo>
                    <a:pt x="2140389" y="469381"/>
                    <a:pt x="3273576" y="0"/>
                    <a:pt x="4455157" y="0"/>
                  </a:cubicBezTo>
                  <a:close/>
                </a:path>
              </a:pathLst>
            </a:custGeom>
            <a:solidFill>
              <a:srgbClr val="D7D2F9">
                <a:alpha val="90196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2572794" y="4269667"/>
            <a:ext cx="1760800" cy="44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Snapshots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6267" y="4920463"/>
            <a:ext cx="4742041" cy="218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8456" indent="-199228" lvl="1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Custo inicial zero</a:t>
            </a:r>
          </a:p>
          <a:p>
            <a:pPr algn="l" marL="398456" indent="-199228" lvl="1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Congela o estado da árvore de blocos</a:t>
            </a:r>
          </a:p>
          <a:p>
            <a:pPr algn="l" marL="398456" indent="-199228" lvl="1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Modificações futuras são cobradas do snapshot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466823" y="3888122"/>
            <a:ext cx="5217175" cy="1922052"/>
            <a:chOff x="0" y="0"/>
            <a:chExt cx="13719552" cy="50544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19530" cy="5054382"/>
            </a:xfrm>
            <a:custGeom>
              <a:avLst/>
              <a:gdLst/>
              <a:ahLst/>
              <a:cxnLst/>
              <a:rect r="r" b="b" t="t" l="l"/>
              <a:pathLst>
                <a:path h="5054382" w="13719530">
                  <a:moveTo>
                    <a:pt x="2527191" y="0"/>
                  </a:moveTo>
                  <a:lnTo>
                    <a:pt x="11192339" y="0"/>
                  </a:lnTo>
                  <a:cubicBezTo>
                    <a:pt x="12588068" y="0"/>
                    <a:pt x="13719530" y="1131462"/>
                    <a:pt x="13719530" y="2527191"/>
                  </a:cubicBezTo>
                  <a:lnTo>
                    <a:pt x="13719530" y="2527191"/>
                  </a:lnTo>
                  <a:cubicBezTo>
                    <a:pt x="13719530" y="3197444"/>
                    <a:pt x="13453273" y="3840245"/>
                    <a:pt x="12979333" y="4314185"/>
                  </a:cubicBezTo>
                  <a:cubicBezTo>
                    <a:pt x="12505392" y="4788125"/>
                    <a:pt x="11862591" y="5054382"/>
                    <a:pt x="11192339" y="5054382"/>
                  </a:cubicBezTo>
                  <a:lnTo>
                    <a:pt x="2527191" y="5054382"/>
                  </a:lnTo>
                  <a:cubicBezTo>
                    <a:pt x="1856938" y="5054382"/>
                    <a:pt x="1214137" y="4788125"/>
                    <a:pt x="740197" y="4314185"/>
                  </a:cubicBezTo>
                  <a:cubicBezTo>
                    <a:pt x="266257" y="3840245"/>
                    <a:pt x="0" y="3197444"/>
                    <a:pt x="0" y="2527191"/>
                  </a:cubicBezTo>
                  <a:lnTo>
                    <a:pt x="0" y="2527191"/>
                  </a:lnTo>
                  <a:cubicBezTo>
                    <a:pt x="0" y="1856938"/>
                    <a:pt x="266257" y="1214137"/>
                    <a:pt x="740197" y="740197"/>
                  </a:cubicBezTo>
                  <a:cubicBezTo>
                    <a:pt x="1214137" y="266257"/>
                    <a:pt x="1856938" y="0"/>
                    <a:pt x="2527191" y="0"/>
                  </a:cubicBezTo>
                  <a:close/>
                </a:path>
              </a:pathLst>
            </a:custGeom>
            <a:solidFill>
              <a:srgbClr val="D7D2F9">
                <a:alpha val="90196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462558" y="4269667"/>
            <a:ext cx="1225705" cy="44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Clones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98523" y="4920463"/>
            <a:ext cx="4153775" cy="432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8456" indent="-199228" lvl="1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Criados a partir de snapshots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903073" y="3888122"/>
            <a:ext cx="5441495" cy="2706988"/>
            <a:chOff x="0" y="0"/>
            <a:chExt cx="14309442" cy="71185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309420" cy="7118513"/>
            </a:xfrm>
            <a:custGeom>
              <a:avLst/>
              <a:gdLst/>
              <a:ahLst/>
              <a:cxnLst/>
              <a:rect r="r" b="b" t="t" l="l"/>
              <a:pathLst>
                <a:path h="7118513" w="14309420">
                  <a:moveTo>
                    <a:pt x="3559256" y="0"/>
                  </a:moveTo>
                  <a:lnTo>
                    <a:pt x="10750163" y="0"/>
                  </a:lnTo>
                  <a:cubicBezTo>
                    <a:pt x="11694137" y="0"/>
                    <a:pt x="12599447" y="374992"/>
                    <a:pt x="13266937" y="1042482"/>
                  </a:cubicBezTo>
                  <a:cubicBezTo>
                    <a:pt x="13934427" y="1709972"/>
                    <a:pt x="14309420" y="2615283"/>
                    <a:pt x="14309420" y="3559256"/>
                  </a:cubicBezTo>
                  <a:lnTo>
                    <a:pt x="14309420" y="3559256"/>
                  </a:lnTo>
                  <a:cubicBezTo>
                    <a:pt x="14309420" y="5524979"/>
                    <a:pt x="12715887" y="7118513"/>
                    <a:pt x="10750163" y="7118513"/>
                  </a:cubicBezTo>
                  <a:lnTo>
                    <a:pt x="3559256" y="7118513"/>
                  </a:lnTo>
                  <a:cubicBezTo>
                    <a:pt x="2615283" y="7118513"/>
                    <a:pt x="1709972" y="6743521"/>
                    <a:pt x="1042482" y="6076031"/>
                  </a:cubicBezTo>
                  <a:cubicBezTo>
                    <a:pt x="374992" y="5408541"/>
                    <a:pt x="0" y="4503230"/>
                    <a:pt x="0" y="3559256"/>
                  </a:cubicBezTo>
                  <a:lnTo>
                    <a:pt x="0" y="3559256"/>
                  </a:lnTo>
                  <a:cubicBezTo>
                    <a:pt x="0" y="2615283"/>
                    <a:pt x="374992" y="1709972"/>
                    <a:pt x="1042482" y="1042482"/>
                  </a:cubicBezTo>
                  <a:cubicBezTo>
                    <a:pt x="1709972" y="374992"/>
                    <a:pt x="2615283" y="0"/>
                    <a:pt x="3559256" y="0"/>
                  </a:cubicBezTo>
                  <a:close/>
                </a:path>
              </a:pathLst>
            </a:custGeom>
            <a:solidFill>
              <a:srgbClr val="D7D2F9">
                <a:alpha val="90196"/>
              </a:srgbClr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683929" y="4269667"/>
            <a:ext cx="1879784" cy="44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Replicação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90805" y="4715798"/>
            <a:ext cx="4866031" cy="133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8456" indent="-199228" lvl="1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2A2742"/>
                </a:solidFill>
                <a:latin typeface="Consolas"/>
                <a:ea typeface="Consolas"/>
                <a:cs typeface="Consolas"/>
                <a:sym typeface="Consolas"/>
              </a:rPr>
              <a:t>Comandos zfs send/zfs receive</a:t>
            </a:r>
          </a:p>
          <a:p>
            <a:pPr algn="l" marL="398456" indent="-199228" lvl="1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Transferência incremental</a:t>
            </a:r>
          </a:p>
          <a:p>
            <a:pPr algn="l" marL="398456" indent="-199228" lvl="1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Recuperação de desastres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2039421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Aplicações  e Conclusão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991" y="3831003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668" t="0" r="-666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15077" y="3899840"/>
            <a:ext cx="4280106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TrueNAS e Proxmox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4673726"/>
            <a:ext cx="4280106" cy="3007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791" indent="-226395" lvl="1">
              <a:lnSpc>
                <a:spcPts val="3989"/>
              </a:lnSpc>
              <a:buFont typeface="Arial"/>
              <a:buChar char="•"/>
            </a:pPr>
            <a:r>
              <a:rPr lang="en-US" sz="2499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Armazenamento e virtualização com ZFS.</a:t>
            </a:r>
          </a:p>
          <a:p>
            <a:pPr algn="l" marL="452791" indent="-226395" lvl="1">
              <a:lnSpc>
                <a:spcPts val="3989"/>
              </a:lnSpc>
              <a:buFont typeface="Arial"/>
              <a:buChar char="•"/>
            </a:pPr>
            <a:r>
              <a:rPr lang="en-US" sz="2499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TrueNAS: pools, snapshots e replicação.</a:t>
            </a:r>
          </a:p>
          <a:p>
            <a:pPr algn="l" marL="452791" indent="-226395" lvl="1">
              <a:lnSpc>
                <a:spcPts val="3989"/>
              </a:lnSpc>
              <a:buFont typeface="Arial"/>
              <a:buChar char="•"/>
            </a:pPr>
            <a:r>
              <a:rPr lang="en-US" sz="2499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Proxmox: VMs, containers e datastores.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6549819" y="3831003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1" y="0"/>
                </a:lnTo>
                <a:lnTo>
                  <a:pt x="567461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8331" r="0" b="-4832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471915" y="3899840"/>
            <a:ext cx="4280106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Servidores e NAS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49819" y="4673726"/>
            <a:ext cx="4280106" cy="351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791" indent="-226395" lvl="1">
              <a:lnSpc>
                <a:spcPts val="3989"/>
              </a:lnSpc>
              <a:buFont typeface="Arial"/>
              <a:buChar char="•"/>
            </a:pPr>
            <a:r>
              <a:rPr lang="en-US" sz="2499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Proteção e disponibilidade de dados.</a:t>
            </a:r>
          </a:p>
          <a:p>
            <a:pPr algn="l" marL="452791" indent="-226395" lvl="1">
              <a:lnSpc>
                <a:spcPts val="3989"/>
              </a:lnSpc>
              <a:buFont typeface="Arial"/>
              <a:buChar char="•"/>
            </a:pPr>
            <a:r>
              <a:rPr lang="en-US" sz="2499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Ideal para escritórios, labs e pequenas empresas.</a:t>
            </a:r>
          </a:p>
          <a:p>
            <a:pPr algn="l" marL="452791" indent="-226395" lvl="1">
              <a:lnSpc>
                <a:spcPts val="3989"/>
              </a:lnSpc>
              <a:buFont typeface="Arial"/>
              <a:buChar char="•"/>
            </a:pPr>
            <a:r>
              <a:rPr lang="en-US" sz="2499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Integridade contínua em compartilhamentos e volumes.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2106646" y="3831003"/>
            <a:ext cx="567461" cy="567480"/>
          </a:xfrm>
          <a:custGeom>
            <a:avLst/>
            <a:gdLst/>
            <a:ahLst/>
            <a:cxnLst/>
            <a:rect r="r" b="b" t="t" l="l"/>
            <a:pathLst>
              <a:path h="567480" w="567461">
                <a:moveTo>
                  <a:pt x="0" y="0"/>
                </a:moveTo>
                <a:lnTo>
                  <a:pt x="567462" y="0"/>
                </a:lnTo>
                <a:lnTo>
                  <a:pt x="567462" y="567480"/>
                </a:lnTo>
                <a:lnTo>
                  <a:pt x="0" y="567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998" r="0" b="-19997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13028743" y="3899840"/>
            <a:ext cx="4280106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Backups Críticos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06646" y="4673726"/>
            <a:ext cx="4280106" cy="3007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791" indent="-226395" lvl="1">
              <a:lnSpc>
                <a:spcPts val="3989"/>
              </a:lnSpc>
              <a:buFont typeface="Arial"/>
              <a:buChar char="•"/>
            </a:pPr>
            <a:r>
              <a:rPr lang="en-US" sz="2499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Snapshots e checksums para recuperação rápida.</a:t>
            </a:r>
          </a:p>
          <a:p>
            <a:pPr algn="l" marL="452791" indent="-226395" lvl="1">
              <a:lnSpc>
                <a:spcPts val="3989"/>
              </a:lnSpc>
              <a:buFont typeface="Arial"/>
              <a:buChar char="•"/>
            </a:pPr>
            <a:r>
              <a:rPr lang="en-US" sz="2499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Backup local, replicação e cópia em nuvem.</a:t>
            </a:r>
          </a:p>
          <a:p>
            <a:pPr algn="l" marL="452791" indent="-226395" lvl="1">
              <a:lnSpc>
                <a:spcPts val="3989"/>
              </a:lnSpc>
              <a:buFont typeface="Arial"/>
              <a:buChar char="•"/>
            </a:pPr>
            <a:r>
              <a:rPr lang="en-US" sz="2499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Útil contra falhas, exclusões e ransomware.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3571589"/>
            <a:ext cx="16315868" cy="129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54"/>
              </a:lnSpc>
            </a:pPr>
            <a:r>
              <a:rPr lang="en-US" sz="7655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Obrigado pela atenção!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5334219"/>
            <a:ext cx="16315868" cy="132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Iuri Fernandes Bastos · Matheus Parente Reis · Vinicius Alexandre Gomes · Yuri Fontenele Mamede</a:t>
            </a:r>
          </a:p>
          <a:p>
            <a:pPr algn="ctr">
              <a:lnSpc>
                <a:spcPts val="3474"/>
              </a:lnSpc>
            </a:pPr>
            <a:r>
              <a:rPr lang="en-US" sz="2176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Sistemas Operacionais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DAHO6ZWGjE4</dc:identifier>
  <dcterms:modified xsi:type="dcterms:W3CDTF">2011-08-01T06:04:30Z</dcterms:modified>
  <cp:revision>1</cp:revision>
  <dc:title>ZFS </dc:title>
</cp:coreProperties>
</file>